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83" r:id="rId10"/>
    <p:sldId id="268" r:id="rId11"/>
    <p:sldId id="269" r:id="rId12"/>
    <p:sldId id="270" r:id="rId13"/>
    <p:sldId id="271" r:id="rId14"/>
    <p:sldId id="279" r:id="rId15"/>
    <p:sldId id="284" r:id="rId16"/>
    <p:sldId id="285" r:id="rId17"/>
    <p:sldId id="286" r:id="rId18"/>
    <p:sldId id="274" r:id="rId19"/>
    <p:sldId id="275" r:id="rId20"/>
    <p:sldId id="276" r:id="rId21"/>
    <p:sldId id="277" r:id="rId22"/>
    <p:sldId id="278" r:id="rId23"/>
    <p:sldId id="259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88" autoAdjust="0"/>
    <p:restoredTop sz="94660"/>
  </p:normalViewPr>
  <p:slideViewPr>
    <p:cSldViewPr snapToGrid="0">
      <p:cViewPr varScale="1">
        <p:scale>
          <a:sx n="56" d="100"/>
          <a:sy n="56" d="100"/>
        </p:scale>
        <p:origin x="296" y="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8"/>
    </p:cViewPr>
  </p:sorterViewPr>
  <p:notesViewPr>
    <p:cSldViewPr snapToGrid="0">
      <p:cViewPr varScale="1">
        <p:scale>
          <a:sx n="45" d="100"/>
          <a:sy n="45" d="100"/>
        </p:scale>
        <p:origin x="1904" y="6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2D2D09-7A88-4C19-99A9-C8677847C44B}" type="datetimeFigureOut">
              <a:rPr lang="en-US" smtClean="0"/>
              <a:t>5/7/2025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B84FB1-01F3-4F37-8B9C-9CBB58F9AB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478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364DC-D102-EAFA-AC71-3A88A523FC9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0"/>
            <a:ext cx="12192000" cy="1645920"/>
          </a:xfrm>
          <a:solidFill>
            <a:schemeClr val="accent1">
              <a:lumMod val="75000"/>
            </a:schemeClr>
          </a:solidFill>
        </p:spPr>
        <p:txBody>
          <a:bodyPr anchor="ctr" anchorCtr="1">
            <a:normAutofit/>
          </a:bodyPr>
          <a:lstStyle>
            <a:lvl1pPr algn="ctr">
              <a:defRPr sz="3400">
                <a:solidFill>
                  <a:schemeClr val="bg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Your Research Title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45E02C7-4452-8EEE-E1A6-9D5C175FC6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533" y="3410001"/>
            <a:ext cx="1786867" cy="1407835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B40E0FB8-E77F-49E4-B85E-D59B8391EB92}"/>
              </a:ext>
            </a:extLst>
          </p:cNvPr>
          <p:cNvSpPr txBox="1">
            <a:spLocks/>
          </p:cNvSpPr>
          <p:nvPr userDrawn="1"/>
        </p:nvSpPr>
        <p:spPr>
          <a:xfrm>
            <a:off x="10380979" y="5501656"/>
            <a:ext cx="1610479" cy="479951"/>
          </a:xfrm>
          <a:prstGeom prst="roundRect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5DE9FE8-996C-442E-ABFE-50DC6425ECCA}" type="datetime1">
              <a:rPr lang="ja-JP" altLang="en-US" sz="2000" smtClean="0">
                <a:solidFill>
                  <a:schemeClr val="bg1"/>
                </a:solidFill>
                <a:latin typeface="Montserrat" pitchFamily="2" charset="0"/>
              </a:rPr>
              <a:pPr/>
              <a:t>2025/5/7</a:t>
            </a:fld>
            <a:endParaRPr lang="en-US" sz="1600" b="1" dirty="0">
              <a:solidFill>
                <a:schemeClr val="bg1"/>
              </a:solidFill>
              <a:latin typeface="Montserrat" pitchFamily="2" charset="0"/>
              <a:ea typeface="Roboto" panose="02000000000000000000" pitchFamily="2" charset="0"/>
            </a:endParaRP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4FD06530-E118-410F-B0C3-B3C9BA0773B3}"/>
              </a:ext>
            </a:extLst>
          </p:cNvPr>
          <p:cNvSpPr txBox="1">
            <a:spLocks/>
          </p:cNvSpPr>
          <p:nvPr userDrawn="1"/>
        </p:nvSpPr>
        <p:spPr>
          <a:xfrm>
            <a:off x="186653" y="5577020"/>
            <a:ext cx="4752753" cy="404587"/>
          </a:xfrm>
          <a:prstGeom prst="round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 anchorCtr="1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dirty="0">
                <a:solidFill>
                  <a:schemeClr val="bg1"/>
                </a:solidFill>
                <a:latin typeface="Montserrat" pitchFamily="2" charset="0"/>
              </a:rPr>
              <a:t>Supervisor: Dr. Manzu Gerald, Ph.D.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77BE9B74-E255-A524-D6ED-339A6065EBC4}"/>
              </a:ext>
            </a:extLst>
          </p:cNvPr>
          <p:cNvSpPr txBox="1">
            <a:spLocks/>
          </p:cNvSpPr>
          <p:nvPr userDrawn="1"/>
        </p:nvSpPr>
        <p:spPr>
          <a:xfrm>
            <a:off x="-8853" y="1776760"/>
            <a:ext cx="12192000" cy="641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accent1"/>
                </a:solidFill>
              </a:rPr>
              <a:t>UNIVERSITY OF JUBA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50FB4A9-F10B-997E-D2D9-3D3710C8FCC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853" y="2698700"/>
            <a:ext cx="12183147" cy="601538"/>
          </a:xfrm>
          <a:noFill/>
        </p:spPr>
        <p:txBody>
          <a:bodyPr anchor="ctr" anchorCtr="1"/>
          <a:lstStyle>
            <a:lvl1pPr marL="0" indent="0" algn="ctr">
              <a:buNone/>
              <a:defRPr b="1">
                <a:latin typeface="Montserrat" pitchFamily="2" charset="0"/>
                <a:ea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Enter the Department</a:t>
            </a:r>
          </a:p>
        </p:txBody>
      </p:sp>
      <p:sp>
        <p:nvSpPr>
          <p:cNvPr id="26" name="Footer Placeholder 20">
            <a:extLst>
              <a:ext uri="{FF2B5EF4-FFF2-40B4-BE49-F238E27FC236}">
                <a16:creationId xmlns:a16="http://schemas.microsoft.com/office/drawing/2014/main" id="{E9729106-C53B-D03D-10D1-63719C31695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88358" y="6244345"/>
            <a:ext cx="9237980" cy="344775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2025 © Dr. Manzu Gerald Virtual Research Lab | University of Juba, SCSIT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0233CAC-A7A3-9D38-7F7E-111FDCF816B6}"/>
              </a:ext>
            </a:extLst>
          </p:cNvPr>
          <p:cNvSpPr/>
          <p:nvPr userDrawn="1"/>
        </p:nvSpPr>
        <p:spPr>
          <a:xfrm flipV="1">
            <a:off x="1621172" y="6792593"/>
            <a:ext cx="8961120" cy="45719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054561E1-D753-E403-082E-9FC89D9526E5}"/>
              </a:ext>
            </a:extLst>
          </p:cNvPr>
          <p:cNvSpPr txBox="1">
            <a:spLocks/>
          </p:cNvSpPr>
          <p:nvPr userDrawn="1"/>
        </p:nvSpPr>
        <p:spPr>
          <a:xfrm>
            <a:off x="8853" y="2256227"/>
            <a:ext cx="12192000" cy="6417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1" kern="1200">
                <a:solidFill>
                  <a:schemeClr val="tx1"/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tx1"/>
                </a:solidFill>
              </a:rPr>
              <a:t>School of Computer Science and Information Technology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CA13F8FA-6835-DBE3-92C8-5576A9BB18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74800" y="4860516"/>
            <a:ext cx="8806179" cy="491703"/>
          </a:xfrm>
        </p:spPr>
        <p:txBody>
          <a:bodyPr anchor="ctr" anchorCtr="1"/>
          <a:lstStyle>
            <a:lvl1pPr marL="0" indent="0">
              <a:buNone/>
              <a:defRPr b="1">
                <a:solidFill>
                  <a:schemeClr val="accent1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/>
              <a:t>Your Name, Index Number</a:t>
            </a:r>
          </a:p>
        </p:txBody>
      </p:sp>
      <p:sp>
        <p:nvSpPr>
          <p:cNvPr id="30" name="Footer Placeholder 20">
            <a:extLst>
              <a:ext uri="{FF2B5EF4-FFF2-40B4-BE49-F238E27FC236}">
                <a16:creationId xmlns:a16="http://schemas.microsoft.com/office/drawing/2014/main" id="{F87F7E2C-2B67-C70E-D0DC-F42A4CDD09CC}"/>
              </a:ext>
            </a:extLst>
          </p:cNvPr>
          <p:cNvSpPr txBox="1">
            <a:spLocks/>
          </p:cNvSpPr>
          <p:nvPr userDrawn="1"/>
        </p:nvSpPr>
        <p:spPr>
          <a:xfrm>
            <a:off x="1494394" y="6507145"/>
            <a:ext cx="9237980" cy="34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accent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1"/>
                </a:solidFill>
                <a:latin typeface="Montserrat" pitchFamily="2" charset="0"/>
              </a:rPr>
              <a:t>LEARN</a:t>
            </a:r>
            <a:r>
              <a:rPr lang="ja-JP" altLang="en-US" sz="1600" dirty="0">
                <a:solidFill>
                  <a:srgbClr val="202124"/>
                </a:solidFill>
                <a:latin typeface="Montserrat" pitchFamily="2" charset="0"/>
              </a:rPr>
              <a:t>・</a:t>
            </a:r>
            <a:r>
              <a:rPr lang="en-US" altLang="ja-JP" sz="1600" b="1" dirty="0">
                <a:solidFill>
                  <a:schemeClr val="tx1"/>
                </a:solidFill>
                <a:latin typeface="Montserrat" pitchFamily="2" charset="0"/>
              </a:rPr>
              <a:t>RESEARCH</a:t>
            </a:r>
            <a:r>
              <a:rPr lang="ja-JP" altLang="en-US" sz="1600" dirty="0">
                <a:solidFill>
                  <a:srgbClr val="202124"/>
                </a:solidFill>
                <a:latin typeface="Montserrat" pitchFamily="2" charset="0"/>
              </a:rPr>
              <a:t>・</a:t>
            </a:r>
            <a:r>
              <a:rPr lang="en-US" altLang="ja-JP" sz="1600" b="1" dirty="0">
                <a:solidFill>
                  <a:schemeClr val="accent1"/>
                </a:solidFill>
                <a:latin typeface="Montserrat" pitchFamily="2" charset="0"/>
              </a:rPr>
              <a:t>INNOVATE</a:t>
            </a:r>
            <a:endParaRPr lang="en-US" sz="16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10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7087-FE43-B987-5E97-D2EE08390E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652" y="72727"/>
            <a:ext cx="10792046" cy="691498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>
              <a:defRPr sz="3600">
                <a:solidFill>
                  <a:schemeClr val="accent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A394EA-C881-8208-DC6B-4807CEE18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2652" y="1329069"/>
            <a:ext cx="11802140" cy="4723441"/>
          </a:xfrm>
          <a:ln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>
              <a:defRPr sz="280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CF62DC-4C2A-1458-43D9-7688EA9F1554}"/>
              </a:ext>
            </a:extLst>
          </p:cNvPr>
          <p:cNvSpPr/>
          <p:nvPr userDrawn="1"/>
        </p:nvSpPr>
        <p:spPr>
          <a:xfrm flipV="1">
            <a:off x="0" y="863470"/>
            <a:ext cx="12192000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A62D22-DD6A-2C9F-0F63-A9547C7B6A1C}"/>
              </a:ext>
            </a:extLst>
          </p:cNvPr>
          <p:cNvSpPr/>
          <p:nvPr userDrawn="1"/>
        </p:nvSpPr>
        <p:spPr>
          <a:xfrm>
            <a:off x="11504252" y="6272531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06CC5CC-E15B-4529-9BCD-E60BEE28A19C}" type="slidenum">
              <a:rPr lang="en-US" sz="1200" b="1" smtClean="0">
                <a:solidFill>
                  <a:schemeClr val="bg1"/>
                </a:solidFill>
                <a:latin typeface="Montserrat" pitchFamily="2" charset="0"/>
              </a:rPr>
              <a:pPr/>
              <a:t>‹#›</a:t>
            </a:fld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7C5BD2-4306-1EF0-6FD8-99CB2006EDC2}"/>
              </a:ext>
            </a:extLst>
          </p:cNvPr>
          <p:cNvSpPr/>
          <p:nvPr userDrawn="1"/>
        </p:nvSpPr>
        <p:spPr>
          <a:xfrm flipV="1">
            <a:off x="3538" y="6149059"/>
            <a:ext cx="12192000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CA69408-395F-6EF6-AFE0-7740DB61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100" y="6445250"/>
            <a:ext cx="1333500" cy="344775"/>
          </a:xfrm>
          <a:prstGeom prst="roundRect">
            <a:avLst/>
          </a:prstGeom>
          <a:noFill/>
          <a:ln>
            <a:noFill/>
          </a:ln>
          <a:effectLst>
            <a:softEdge rad="31750"/>
          </a:effectLst>
        </p:spPr>
        <p:txBody>
          <a:bodyPr/>
          <a:lstStyle>
            <a:lvl1pPr algn="ctr">
              <a:defRPr sz="1600" b="1">
                <a:solidFill>
                  <a:schemeClr val="accent1"/>
                </a:solidFill>
                <a:latin typeface="Montserrat" pitchFamily="2" charset="0"/>
              </a:defRPr>
            </a:lvl1pPr>
          </a:lstStyle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pic>
        <p:nvPicPr>
          <p:cNvPr id="25" name="Picture 24" descr="A logo with a rhinoceros and trees&#10;&#10;AI-generated content may be incorrect.">
            <a:extLst>
              <a:ext uri="{FF2B5EF4-FFF2-40B4-BE49-F238E27FC236}">
                <a16:creationId xmlns:a16="http://schemas.microsoft.com/office/drawing/2014/main" id="{3B2B0E0F-0120-9D40-B2FD-70847AF942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13" y="81882"/>
            <a:ext cx="877670" cy="691498"/>
          </a:xfrm>
          <a:prstGeom prst="rect">
            <a:avLst/>
          </a:prstGeom>
        </p:spPr>
      </p:pic>
      <p:sp>
        <p:nvSpPr>
          <p:cNvPr id="26" name="Footer Placeholder 20">
            <a:extLst>
              <a:ext uri="{FF2B5EF4-FFF2-40B4-BE49-F238E27FC236}">
                <a16:creationId xmlns:a16="http://schemas.microsoft.com/office/drawing/2014/main" id="{37AE0A71-A126-652D-F1D2-510ECA954DA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88358" y="6228303"/>
            <a:ext cx="9237980" cy="344775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2025 © Dr. Manzu Gerald Virtual Research Lab | University of Juba, SCSIT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6D2DD7D-E275-227E-1331-70D47376E863}"/>
              </a:ext>
            </a:extLst>
          </p:cNvPr>
          <p:cNvSpPr/>
          <p:nvPr userDrawn="1"/>
        </p:nvSpPr>
        <p:spPr>
          <a:xfrm flipV="1">
            <a:off x="1621172" y="6776551"/>
            <a:ext cx="8961120" cy="45719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ooter Placeholder 20">
            <a:extLst>
              <a:ext uri="{FF2B5EF4-FFF2-40B4-BE49-F238E27FC236}">
                <a16:creationId xmlns:a16="http://schemas.microsoft.com/office/drawing/2014/main" id="{824CFE75-2E8F-6BF1-5302-B591D1A1283F}"/>
              </a:ext>
            </a:extLst>
          </p:cNvPr>
          <p:cNvSpPr txBox="1">
            <a:spLocks/>
          </p:cNvSpPr>
          <p:nvPr userDrawn="1"/>
        </p:nvSpPr>
        <p:spPr>
          <a:xfrm>
            <a:off x="1494394" y="6491103"/>
            <a:ext cx="9237980" cy="34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accent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1"/>
                </a:solidFill>
                <a:latin typeface="Montserrat" pitchFamily="2" charset="0"/>
              </a:rPr>
              <a:t>LEARN</a:t>
            </a:r>
            <a:r>
              <a:rPr lang="ja-JP" altLang="en-US" sz="1600" dirty="0">
                <a:solidFill>
                  <a:srgbClr val="202124"/>
                </a:solidFill>
                <a:latin typeface="Montserrat" pitchFamily="2" charset="0"/>
              </a:rPr>
              <a:t>・</a:t>
            </a:r>
            <a:r>
              <a:rPr lang="en-US" altLang="ja-JP" sz="1600" b="1" dirty="0">
                <a:solidFill>
                  <a:schemeClr val="tx1"/>
                </a:solidFill>
                <a:latin typeface="Montserrat" pitchFamily="2" charset="0"/>
              </a:rPr>
              <a:t>RESEARCH</a:t>
            </a:r>
            <a:r>
              <a:rPr lang="ja-JP" altLang="en-US" sz="1600" dirty="0">
                <a:solidFill>
                  <a:srgbClr val="202124"/>
                </a:solidFill>
                <a:latin typeface="Montserrat" pitchFamily="2" charset="0"/>
              </a:rPr>
              <a:t>・</a:t>
            </a:r>
            <a:r>
              <a:rPr lang="en-US" altLang="ja-JP" sz="1600" b="1" dirty="0">
                <a:solidFill>
                  <a:schemeClr val="accent1"/>
                </a:solidFill>
                <a:latin typeface="Montserrat" pitchFamily="2" charset="0"/>
              </a:rPr>
              <a:t>INNOVATE</a:t>
            </a:r>
            <a:endParaRPr lang="en-US" sz="16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81463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87087-FE43-B987-5E97-D2EE08390E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3010" y="93993"/>
            <a:ext cx="10492503" cy="691498"/>
          </a:xfrm>
          <a:ln>
            <a:solidFill>
              <a:schemeClr val="bg1"/>
            </a:solidFill>
          </a:ln>
        </p:spPr>
        <p:txBody>
          <a:bodyPr>
            <a:noAutofit/>
          </a:bodyPr>
          <a:lstStyle>
            <a:lvl1pPr>
              <a:defRPr sz="2800" b="0">
                <a:solidFill>
                  <a:schemeClr val="accent1"/>
                </a:solidFill>
                <a:latin typeface="Montserrat" pitchFamily="2" charset="0"/>
              </a:defRPr>
            </a:lvl1pPr>
          </a:lstStyle>
          <a:p>
            <a:r>
              <a:rPr lang="en-US" dirty="0" err="1"/>
              <a:t>QnA</a:t>
            </a:r>
            <a:r>
              <a:rPr lang="en-US" dirty="0"/>
              <a:t> Session – Questions, Opinions, Suggestions, Remarks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CF62DC-4C2A-1458-43D9-7688EA9F1554}"/>
              </a:ext>
            </a:extLst>
          </p:cNvPr>
          <p:cNvSpPr/>
          <p:nvPr userDrawn="1"/>
        </p:nvSpPr>
        <p:spPr>
          <a:xfrm flipV="1">
            <a:off x="0" y="863470"/>
            <a:ext cx="12192000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A62D22-DD6A-2C9F-0F63-A9547C7B6A1C}"/>
              </a:ext>
            </a:extLst>
          </p:cNvPr>
          <p:cNvSpPr/>
          <p:nvPr userDrawn="1"/>
        </p:nvSpPr>
        <p:spPr>
          <a:xfrm>
            <a:off x="11504252" y="6272531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106CC5CC-E15B-4529-9BCD-E60BEE28A19C}" type="slidenum">
              <a:rPr lang="en-US" sz="1200" b="1" smtClean="0">
                <a:solidFill>
                  <a:schemeClr val="bg1"/>
                </a:solidFill>
                <a:latin typeface="Montserrat" pitchFamily="2" charset="0"/>
              </a:rPr>
              <a:pPr/>
              <a:t>‹#›</a:t>
            </a:fld>
            <a:endParaRPr lang="en-US" sz="16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7C5BD2-4306-1EF0-6FD8-99CB2006EDC2}"/>
              </a:ext>
            </a:extLst>
          </p:cNvPr>
          <p:cNvSpPr/>
          <p:nvPr userDrawn="1"/>
        </p:nvSpPr>
        <p:spPr>
          <a:xfrm flipV="1">
            <a:off x="3538" y="6149059"/>
            <a:ext cx="12192000" cy="45719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6CA69408-395F-6EF6-AFE0-7740DB6131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100" y="6445250"/>
            <a:ext cx="1333500" cy="344775"/>
          </a:xfrm>
          <a:prstGeom prst="roundRect">
            <a:avLst/>
          </a:prstGeom>
          <a:noFill/>
          <a:ln>
            <a:noFill/>
          </a:ln>
          <a:effectLst>
            <a:softEdge rad="31750"/>
          </a:effectLst>
        </p:spPr>
        <p:txBody>
          <a:bodyPr/>
          <a:lstStyle>
            <a:lvl1pPr algn="ctr">
              <a:defRPr sz="1600" b="1">
                <a:solidFill>
                  <a:schemeClr val="accent1"/>
                </a:solidFill>
                <a:latin typeface="Montserrat" pitchFamily="2" charset="0"/>
              </a:defRPr>
            </a:lvl1pPr>
          </a:lstStyle>
          <a:p>
            <a:fld id="{65DE9FE8-996C-442E-ABFE-50DC6425ECCA}" type="datetime1">
              <a:rPr lang="ja-JP" altLang="en-US" smtClean="0"/>
              <a:t>2025/5/7</a:t>
            </a:fld>
            <a:endParaRPr lang="en-US" dirty="0"/>
          </a:p>
        </p:txBody>
      </p:sp>
      <p:pic>
        <p:nvPicPr>
          <p:cNvPr id="25" name="Picture 24" descr="A logo with a rhinoceros and trees&#10;&#10;AI-generated content may be incorrect.">
            <a:extLst>
              <a:ext uri="{FF2B5EF4-FFF2-40B4-BE49-F238E27FC236}">
                <a16:creationId xmlns:a16="http://schemas.microsoft.com/office/drawing/2014/main" id="{3B2B0E0F-0120-9D40-B2FD-70847AF942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5513" y="81882"/>
            <a:ext cx="877670" cy="69149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AC71807-01D8-5B9A-C95E-82582485C93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98221" y="3980954"/>
            <a:ext cx="5613879" cy="914400"/>
          </a:xfrm>
        </p:spPr>
        <p:txBody>
          <a:bodyPr anchor="ctr" anchorCtr="1"/>
          <a:lstStyle>
            <a:lvl1pPr marL="0" indent="0">
              <a:buNone/>
              <a:defRPr b="1">
                <a:solidFill>
                  <a:schemeClr val="accent1"/>
                </a:solidFill>
                <a:latin typeface="Montserrat" pitchFamily="2" charset="0"/>
              </a:defRPr>
            </a:lvl1pPr>
          </a:lstStyle>
          <a:p>
            <a:pPr lvl="0"/>
            <a:r>
              <a:rPr lang="en-US" dirty="0"/>
              <a:t>Your Name, Index Number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3FED0-3FBA-0A43-72FA-BFA45390AC22}"/>
              </a:ext>
            </a:extLst>
          </p:cNvPr>
          <p:cNvSpPr txBox="1"/>
          <p:nvPr userDrawn="1"/>
        </p:nvSpPr>
        <p:spPr>
          <a:xfrm>
            <a:off x="0" y="2307265"/>
            <a:ext cx="12192000" cy="646331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lvl="0" algn="ctr"/>
            <a:r>
              <a:rPr lang="en-US" sz="3600" b="1" dirty="0">
                <a:latin typeface="Montserrat" pitchFamily="2" charset="0"/>
              </a:rPr>
              <a:t>Thank you for the keen attention!</a:t>
            </a:r>
          </a:p>
        </p:txBody>
      </p:sp>
      <p:pic>
        <p:nvPicPr>
          <p:cNvPr id="10" name="Graphic 9" descr="Chevron arrows with solid fill">
            <a:extLst>
              <a:ext uri="{FF2B5EF4-FFF2-40B4-BE49-F238E27FC236}">
                <a16:creationId xmlns:a16="http://schemas.microsoft.com/office/drawing/2014/main" id="{71C2644A-7D31-7A22-0294-5D733F1F4F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" y="86930"/>
            <a:ext cx="710787" cy="710787"/>
          </a:xfrm>
          <a:prstGeom prst="rect">
            <a:avLst/>
          </a:prstGeom>
        </p:spPr>
      </p:pic>
      <p:sp>
        <p:nvSpPr>
          <p:cNvPr id="12" name="Footer Placeholder 20">
            <a:extLst>
              <a:ext uri="{FF2B5EF4-FFF2-40B4-BE49-F238E27FC236}">
                <a16:creationId xmlns:a16="http://schemas.microsoft.com/office/drawing/2014/main" id="{5D469DD5-33F9-6BC8-5ACD-C0AC555348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488358" y="6212261"/>
            <a:ext cx="9237980" cy="344775"/>
          </a:xfrm>
        </p:spPr>
        <p:txBody>
          <a:bodyPr/>
          <a:lstStyle>
            <a:lvl1pPr>
              <a:defRPr sz="1800" b="1">
                <a:solidFill>
                  <a:schemeClr val="tx1"/>
                </a:solidFill>
                <a:latin typeface="Montserrat" pitchFamily="2" charset="0"/>
              </a:defRPr>
            </a:lvl1pPr>
          </a:lstStyle>
          <a:p>
            <a:r>
              <a:rPr lang="en-US" dirty="0"/>
              <a:t>2025 © Dr. Manzu Gerald Virtual Research Lab | University of Juba, SCSIT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D0BE4A0-B00D-F851-550A-9A4AB82BDE0F}"/>
              </a:ext>
            </a:extLst>
          </p:cNvPr>
          <p:cNvSpPr/>
          <p:nvPr userDrawn="1"/>
        </p:nvSpPr>
        <p:spPr>
          <a:xfrm flipV="1">
            <a:off x="1621172" y="6760509"/>
            <a:ext cx="8961120" cy="45719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ooter Placeholder 20">
            <a:extLst>
              <a:ext uri="{FF2B5EF4-FFF2-40B4-BE49-F238E27FC236}">
                <a16:creationId xmlns:a16="http://schemas.microsoft.com/office/drawing/2014/main" id="{34EB9200-6E8E-A340-9FB2-819F6AD65E0E}"/>
              </a:ext>
            </a:extLst>
          </p:cNvPr>
          <p:cNvSpPr txBox="1">
            <a:spLocks/>
          </p:cNvSpPr>
          <p:nvPr userDrawn="1"/>
        </p:nvSpPr>
        <p:spPr>
          <a:xfrm>
            <a:off x="1494394" y="6475061"/>
            <a:ext cx="9237980" cy="344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800" kern="1200">
                <a:solidFill>
                  <a:schemeClr val="accent1">
                    <a:lumMod val="50000"/>
                  </a:schemeClr>
                </a:solidFill>
                <a:latin typeface="Montserrat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b="1" dirty="0">
                <a:solidFill>
                  <a:schemeClr val="accent1"/>
                </a:solidFill>
                <a:latin typeface="Montserrat" pitchFamily="2" charset="0"/>
              </a:rPr>
              <a:t>LEARN</a:t>
            </a:r>
            <a:r>
              <a:rPr lang="ja-JP" altLang="en-US" sz="1600" dirty="0">
                <a:solidFill>
                  <a:srgbClr val="202124"/>
                </a:solidFill>
                <a:latin typeface="Montserrat" pitchFamily="2" charset="0"/>
              </a:rPr>
              <a:t>・</a:t>
            </a:r>
            <a:r>
              <a:rPr lang="en-US" altLang="ja-JP" sz="1600" b="1" dirty="0">
                <a:solidFill>
                  <a:schemeClr val="tx1"/>
                </a:solidFill>
                <a:latin typeface="Montserrat" pitchFamily="2" charset="0"/>
              </a:rPr>
              <a:t>RESEARCH</a:t>
            </a:r>
            <a:r>
              <a:rPr lang="ja-JP" altLang="en-US" sz="1600" dirty="0">
                <a:solidFill>
                  <a:srgbClr val="202124"/>
                </a:solidFill>
                <a:latin typeface="Montserrat" pitchFamily="2" charset="0"/>
              </a:rPr>
              <a:t>・</a:t>
            </a:r>
            <a:r>
              <a:rPr lang="en-US" altLang="ja-JP" sz="1600" b="1" dirty="0">
                <a:solidFill>
                  <a:schemeClr val="accent1"/>
                </a:solidFill>
                <a:latin typeface="Montserrat" pitchFamily="2" charset="0"/>
              </a:rPr>
              <a:t>INNOVATE</a:t>
            </a:r>
            <a:endParaRPr lang="en-US" sz="1600" b="1" dirty="0">
              <a:solidFill>
                <a:schemeClr val="accent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0077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DB55AE-2D45-6751-01C7-73FAC14E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5458E1-D87D-152D-A5EC-51BE85E98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AF20F-FCA6-17A5-10A8-7274A4071C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CC7279-482F-41FF-8168-EA134F01A1B6}" type="datetime1">
              <a:rPr lang="ja-JP" altLang="en-US" smtClean="0"/>
              <a:t>2025/5/7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092B9-D83B-988A-5978-751737CF0D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Dr. Manzu Gerald Virtual Research Lab - University of Juba, SCSIT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937C48-11CF-342B-952B-F0B9CF8B0F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6CC5CC-E15B-4529-9BCD-E60BEE28A1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835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ACE91-A098-4FAB-4834-3320FD2777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-304800"/>
            <a:ext cx="12192000" cy="1645920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Performance Comparison of Random Forest and Conditional Random Fields Models for Named Entity Recognition using the CoNLL-2003 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9DCB4-05CD-954A-2051-77AC1B77F7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Department of Computer Science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C8368-0BBA-5043-772D-437370E6F588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E35C6E-5864-1077-EA1A-C23B77AC88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Anthony Bush Castro, 20-CCS-281</a:t>
            </a:r>
          </a:p>
        </p:txBody>
      </p:sp>
    </p:spTree>
    <p:extLst>
      <p:ext uri="{BB962C8B-B14F-4D97-AF65-F5344CB8AC3E}">
        <p14:creationId xmlns:p14="http://schemas.microsoft.com/office/powerpoint/2010/main" val="132660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is NER still a challenge ?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ambiguity: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(e.g., 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Apple, Anger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Domain-Specific Variability: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NER trained on news may fail in medical/legal text (e.g., “</a:t>
            </a:r>
            <a:r>
              <a:rPr lang="en-US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may denote a business prospect in marketing but refers to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toxic substance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environmental science)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Availability of Annotated Data:  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eeds extra information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Comparison gap: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Random </a:t>
            </a:r>
            <a:r>
              <a:rPr lang="en-US" sz="1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Forest VS CRF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NER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this, we designed a systematic comparison with clear objectives..."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93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and significance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864225CD-6E16-4E24-B582-AB79B6CFC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9210675"/>
              </p:ext>
            </p:extLst>
          </p:nvPr>
        </p:nvGraphicFramePr>
        <p:xfrm>
          <a:off x="212652" y="1043796"/>
          <a:ext cx="11766696" cy="51663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3922232">
                  <a:extLst>
                    <a:ext uri="{9D8B030D-6E8A-4147-A177-3AD203B41FA5}">
                      <a16:colId xmlns:a16="http://schemas.microsoft.com/office/drawing/2014/main" val="3896907944"/>
                    </a:ext>
                  </a:extLst>
                </a:gridCol>
                <a:gridCol w="3922232">
                  <a:extLst>
                    <a:ext uri="{9D8B030D-6E8A-4147-A177-3AD203B41FA5}">
                      <a16:colId xmlns:a16="http://schemas.microsoft.com/office/drawing/2014/main" val="3038007276"/>
                    </a:ext>
                  </a:extLst>
                </a:gridCol>
                <a:gridCol w="3922232">
                  <a:extLst>
                    <a:ext uri="{9D8B030D-6E8A-4147-A177-3AD203B41FA5}">
                      <a16:colId xmlns:a16="http://schemas.microsoft.com/office/drawing/2014/main" val="1632957871"/>
                    </a:ext>
                  </a:extLst>
                </a:gridCol>
              </a:tblGrid>
              <a:tr h="496756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Primary Objectives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 </a:t>
                      </a:r>
                      <a:r>
                        <a:rPr lang="en-US" sz="1600" b="0" dirty="0"/>
                        <a:t>Evaluate and compare the performance of Conditional Random Fields (CRF) &amp; RF</a:t>
                      </a:r>
                    </a:p>
                    <a:p>
                      <a:r>
                        <a:rPr lang="en-US" sz="1600" dirty="0"/>
                        <a:t>Specific objective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To implement CRF and RF models for NER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To assess and compare the performance of both models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To analyze the strengths and limitations of CRF and RF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Significance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This study contributes to the field of Named Entity Recognition by comparing two fundamentally different approaches</a:t>
                      </a:r>
                      <a:r>
                        <a:rPr lang="en-US" sz="1600" dirty="0"/>
                        <a:t>:</a:t>
                      </a:r>
                    </a:p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1600" dirty="0"/>
                        <a:t>Contributions 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Deepening the understanding of how statistical and machine learning methods behave in NER contexts.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Informing model selection strategies.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Supporting the development of adaptable and accurate NER systems</a:t>
                      </a:r>
                    </a:p>
                    <a:p>
                      <a:pPr marL="285750" indent="-2857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600" b="0" dirty="0"/>
                        <a:t>Providing a practical benchmark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IN" dirty="0"/>
                        <a:t>Questions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600" b="0" dirty="0"/>
                        <a:t>How does the performance of CRF compare to RF in Named Entity Recognition?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600" b="0" dirty="0"/>
                        <a:t>What are comparative strengths and limitations of CRF and RF for NER tasks?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600" b="0" dirty="0"/>
                        <a:t>Which model demonstrates better generalization across different entity types in the CoNLL-2003 dataset?</a:t>
                      </a:r>
                    </a:p>
                    <a:p>
                      <a:pPr marL="342900" indent="-342900">
                        <a:lnSpc>
                          <a:spcPct val="150000"/>
                        </a:lnSpc>
                        <a:buFont typeface="+mj-lt"/>
                        <a:buAutoNum type="arabicPeriod"/>
                      </a:pPr>
                      <a:r>
                        <a:rPr lang="en-US" sz="1600" b="0" dirty="0"/>
                        <a:t>What practical insights can be drawn from the comparative analysis to guide future research in NER?</a:t>
                      </a:r>
                    </a:p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19028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78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Evolution of NER Approaches &amp; Key Models(Literature Review)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→ ML → Deep Learning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systems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Relied on handcrafted linguistic rules (Xu et al., 2016), but struggled with ambiguity (e.g., "Apple") and domain shifts (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Magnini et al., 2020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Feature-engineered models (SVMs) improved generalization (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 et al., 2019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BiLSTMs/CNNs automated feature extraction; BERT set new benchmarks (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 &amp; Hovy, 2016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r>
              <a:rPr lang="sv-SE" sz="1600" b="1" dirty="0"/>
              <a:t>CRFs vs. RFs in 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CRFs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Dominant for sequence labeling (CoNLL-2003 F1=91.21% with BiLSTM-CNN-CRF) due to contextual dependency modeling (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Peilin et al., 2019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RFs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Excelled in interpretability and feature importance (</a:t>
            </a:r>
            <a:r>
              <a:rPr lang="en-US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Sumathipala et al., 2014: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93.8% precision in biomedical NER).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2025 © Dr. </a:t>
            </a:r>
            <a:r>
              <a:rPr lang="en-US" dirty="0" err="1"/>
              <a:t>Manzu</a:t>
            </a:r>
            <a:r>
              <a:rPr lang="en-US" dirty="0"/>
              <a:t> Gerald Virtual Research Lab | University of Juba, SCSIT</a:t>
            </a:r>
          </a:p>
        </p:txBody>
      </p:sp>
    </p:spTree>
    <p:extLst>
      <p:ext uri="{BB962C8B-B14F-4D97-AF65-F5344CB8AC3E}">
        <p14:creationId xmlns:p14="http://schemas.microsoft.com/office/powerpoint/2010/main" val="12587261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Gaps &amp; 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514" y="1329069"/>
            <a:ext cx="11492278" cy="472344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 (Dong et al., 2022)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direct CRF vs. RF comparison on CoNLL-2003.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analysis of their trade-offs (sequence modeling vs. interpretability).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Unclear adaptability to entity types (PER/ORG/LOC) and domains.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Study’s Novelty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controlled comparison of CRF/RF on CoNLL-2003.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Entity-type breakdown: CRF for LOC (context-heavy), RF for PER (feature-driven).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potential: Combines CRF’s sequence awareness + RF’s interpretability (e.g., federated learning CRFs (Mathew et al., 2022)).</a:t>
            </a:r>
          </a:p>
          <a:p>
            <a:pPr>
              <a:lnSpc>
                <a:spcPct val="15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5872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Implementation Flowchart (methodology)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40CB1B-CEBF-411F-BC56-53E213CA1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9849" y="914400"/>
            <a:ext cx="6297283" cy="5138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477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Models and Data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FDFE39CB-CB9F-40D3-AEDB-568F32674F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20750810"/>
              </p:ext>
            </p:extLst>
          </p:nvPr>
        </p:nvGraphicFramePr>
        <p:xfrm>
          <a:off x="212725" y="981173"/>
          <a:ext cx="11801474" cy="515220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18996">
                  <a:extLst>
                    <a:ext uri="{9D8B030D-6E8A-4147-A177-3AD203B41FA5}">
                      <a16:colId xmlns:a16="http://schemas.microsoft.com/office/drawing/2014/main" val="1453725261"/>
                    </a:ext>
                  </a:extLst>
                </a:gridCol>
                <a:gridCol w="8382478">
                  <a:extLst>
                    <a:ext uri="{9D8B030D-6E8A-4147-A177-3AD203B41FA5}">
                      <a16:colId xmlns:a16="http://schemas.microsoft.com/office/drawing/2014/main" val="4213474978"/>
                    </a:ext>
                  </a:extLst>
                </a:gridCol>
              </a:tblGrid>
              <a:tr h="5152208">
                <a:tc>
                  <a:txBody>
                    <a:bodyPr/>
                    <a:lstStyle/>
                    <a:p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70656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graphicFrame>
        <p:nvGraphicFramePr>
          <p:cNvPr id="3" name="Table 6">
            <a:extLst>
              <a:ext uri="{FF2B5EF4-FFF2-40B4-BE49-F238E27FC236}">
                <a16:creationId xmlns:a16="http://schemas.microsoft.com/office/drawing/2014/main" id="{F240A9AC-3BD1-40EE-8EB6-B482DF956EB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49412492"/>
              </p:ext>
            </p:extLst>
          </p:nvPr>
        </p:nvGraphicFramePr>
        <p:xfrm>
          <a:off x="1200556" y="981172"/>
          <a:ext cx="9790887" cy="1669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7722">
                  <a:extLst>
                    <a:ext uri="{9D8B030D-6E8A-4147-A177-3AD203B41FA5}">
                      <a16:colId xmlns:a16="http://schemas.microsoft.com/office/drawing/2014/main" val="2830979551"/>
                    </a:ext>
                  </a:extLst>
                </a:gridCol>
                <a:gridCol w="2393974">
                  <a:extLst>
                    <a:ext uri="{9D8B030D-6E8A-4147-A177-3AD203B41FA5}">
                      <a16:colId xmlns:a16="http://schemas.microsoft.com/office/drawing/2014/main" val="1154873577"/>
                    </a:ext>
                  </a:extLst>
                </a:gridCol>
                <a:gridCol w="2885804">
                  <a:extLst>
                    <a:ext uri="{9D8B030D-6E8A-4147-A177-3AD203B41FA5}">
                      <a16:colId xmlns:a16="http://schemas.microsoft.com/office/drawing/2014/main" val="2443316459"/>
                    </a:ext>
                  </a:extLst>
                </a:gridCol>
                <a:gridCol w="2063387">
                  <a:extLst>
                    <a:ext uri="{9D8B030D-6E8A-4147-A177-3AD203B41FA5}">
                      <a16:colId xmlns:a16="http://schemas.microsoft.com/office/drawing/2014/main" val="3457480011"/>
                    </a:ext>
                  </a:extLst>
                </a:gridCol>
              </a:tblGrid>
              <a:tr h="366042">
                <a:tc>
                  <a:txBody>
                    <a:bodyPr/>
                    <a:lstStyle/>
                    <a:p>
                      <a:r>
                        <a:rPr lang="en-IN" dirty="0"/>
                        <a:t>split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Articles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 of sentences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Number of tokens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24244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/>
                        <a:t>Training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14, 978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203, 621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1032038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r>
                        <a:rPr lang="en-IN" dirty="0"/>
                        <a:t>Validation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3, 466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51,362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037553"/>
                  </a:ext>
                </a:extLst>
              </a:tr>
              <a:tr h="468630">
                <a:tc>
                  <a:txBody>
                    <a:bodyPr/>
                    <a:lstStyle/>
                    <a:p>
                      <a:r>
                        <a:rPr lang="en-IN" dirty="0"/>
                        <a:t>Test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3, 684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46, 435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45398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828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CRF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D7E8085-DEE1-7D75-3929-5BA60691C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88358" y="2133226"/>
            <a:ext cx="8524322" cy="39888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3FD2E7-3472-46F0-85BA-64CEA0A0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1638" y="984190"/>
            <a:ext cx="5588704" cy="128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6499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2A677-3736-F31B-CD88-4AF320821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3E229-913C-43E4-6524-DBB961596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Model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5CFE6-7B15-F788-4F5F-E8A68EA8F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66EF13-FEB7-A5A2-D41F-1FD8EEE6AE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A4D53A-8C2D-7F59-024A-0EF17C395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415" y="1084629"/>
            <a:ext cx="4855255" cy="5493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3CA0566-A62A-6914-E363-6FD403560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782" y="2281918"/>
            <a:ext cx="9252156" cy="2428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168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models performance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52D79184-92C5-4644-AAF8-E1FAE2E29A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3036860"/>
              </p:ext>
            </p:extLst>
          </p:nvPr>
        </p:nvGraphicFramePr>
        <p:xfrm>
          <a:off x="212725" y="981173"/>
          <a:ext cx="11801474" cy="510907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900737">
                  <a:extLst>
                    <a:ext uri="{9D8B030D-6E8A-4147-A177-3AD203B41FA5}">
                      <a16:colId xmlns:a16="http://schemas.microsoft.com/office/drawing/2014/main" val="62045949"/>
                    </a:ext>
                  </a:extLst>
                </a:gridCol>
                <a:gridCol w="5900737">
                  <a:extLst>
                    <a:ext uri="{9D8B030D-6E8A-4147-A177-3AD203B41FA5}">
                      <a16:colId xmlns:a16="http://schemas.microsoft.com/office/drawing/2014/main" val="2871165679"/>
                    </a:ext>
                  </a:extLst>
                </a:gridCol>
              </a:tblGrid>
              <a:tr h="5109076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en-IN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887821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3B1EF44-F0EE-AC77-9D49-24412F16EA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652" y="1119226"/>
            <a:ext cx="4860291" cy="78948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A2FC9C4-9F28-94A5-9A47-85BE1B6B71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189" y="2016548"/>
            <a:ext cx="3079024" cy="10496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47E07B4-45F9-5B44-1205-DA9B553BC3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0291" y="2153052"/>
            <a:ext cx="2956205" cy="75053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ED561F5-3F77-1D6B-ED9D-2CED652895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073632"/>
            <a:ext cx="4516879" cy="75053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D0ABAC0-D929-EACF-5381-8E57A379EF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93146" y="3258592"/>
            <a:ext cx="8444134" cy="2752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19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Tag distribution - Training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5100" y="1329069"/>
            <a:ext cx="11849692" cy="4742472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9" name="Picture 8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0DB551BC-8BF9-04A9-3CF2-F3645DBFE9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8148" y="1055782"/>
            <a:ext cx="10058400" cy="4955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B34FD62-97C7-A6A8-4578-DEDDA40CB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148" y="1115493"/>
            <a:ext cx="10059362" cy="49560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5C0562A-F6C7-800C-679F-2658932645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39528" y="1055308"/>
            <a:ext cx="10059363" cy="4956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71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Forest Classification Performance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12" name="Picture 11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F09B1502-DD69-60B5-FA21-E5EC34755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4754"/>
            <a:ext cx="12192000" cy="5139966"/>
          </a:xfrm>
          <a:prstGeom prst="rect">
            <a:avLst/>
          </a:prstGeom>
        </p:spPr>
      </p:pic>
      <p:pic>
        <p:nvPicPr>
          <p:cNvPr id="14" name="Picture 13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A870BF17-26D8-532C-CFD1-B709532E04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8" y="1031136"/>
            <a:ext cx="12192000" cy="5139966"/>
          </a:xfrm>
          <a:prstGeom prst="rect">
            <a:avLst/>
          </a:prstGeom>
        </p:spPr>
      </p:pic>
      <p:pic>
        <p:nvPicPr>
          <p:cNvPr id="10" name="Content Placeholder 9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E73E87B6-29B4-2004-9370-9EBA8B9DD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96" y="1027518"/>
            <a:ext cx="12192000" cy="5139967"/>
          </a:xfr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7D038E9-7E48-D17A-C080-65EEBF1E9BDF}"/>
              </a:ext>
            </a:extLst>
          </p:cNvPr>
          <p:cNvSpPr/>
          <p:nvPr/>
        </p:nvSpPr>
        <p:spPr>
          <a:xfrm>
            <a:off x="7277099" y="1575530"/>
            <a:ext cx="2049780" cy="6304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59.5%</a:t>
            </a:r>
          </a:p>
          <a:p>
            <a:pPr algn="ctr"/>
            <a:r>
              <a:rPr lang="en-US" sz="1400" b="1" dirty="0">
                <a:solidFill>
                  <a:srgbClr val="FFFF00"/>
                </a:solidFill>
              </a:rPr>
              <a:t>Test set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9AB21F-3242-9969-E782-FBF4C48F730C}"/>
              </a:ext>
            </a:extLst>
          </p:cNvPr>
          <p:cNvSpPr/>
          <p:nvPr/>
        </p:nvSpPr>
        <p:spPr>
          <a:xfrm>
            <a:off x="2362198" y="1564099"/>
            <a:ext cx="2049780" cy="6304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60.6%</a:t>
            </a:r>
          </a:p>
          <a:p>
            <a:pPr algn="ctr"/>
            <a:r>
              <a:rPr lang="en-US" sz="1400" b="1" dirty="0">
                <a:solidFill>
                  <a:srgbClr val="FFFF00"/>
                </a:solidFill>
              </a:rPr>
              <a:t>Training set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53453D7-C335-4CED-68EB-03D459CB4237}"/>
              </a:ext>
            </a:extLst>
          </p:cNvPr>
          <p:cNvSpPr/>
          <p:nvPr/>
        </p:nvSpPr>
        <p:spPr>
          <a:xfrm>
            <a:off x="4914902" y="1564098"/>
            <a:ext cx="2049780" cy="6304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58.6%</a:t>
            </a:r>
          </a:p>
          <a:p>
            <a:pPr algn="ctr"/>
            <a:r>
              <a:rPr lang="en-US" sz="1400" b="1" dirty="0">
                <a:solidFill>
                  <a:srgbClr val="FFFF00"/>
                </a:solidFill>
              </a:rPr>
              <a:t>Validation set</a:t>
            </a:r>
          </a:p>
        </p:txBody>
      </p:sp>
    </p:spTree>
    <p:extLst>
      <p:ext uri="{BB962C8B-B14F-4D97-AF65-F5344CB8AC3E}">
        <p14:creationId xmlns:p14="http://schemas.microsoft.com/office/powerpoint/2010/main" val="146370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RF Confusion Matrices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16" name="Picture 15" descr="A red and blue chart&#10;&#10;AI-generated content may be incorrect.">
            <a:extLst>
              <a:ext uri="{FF2B5EF4-FFF2-40B4-BE49-F238E27FC236}">
                <a16:creationId xmlns:a16="http://schemas.microsoft.com/office/drawing/2014/main" id="{9E8B57FC-42B4-3B0B-5F3C-347134E31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100" y="945248"/>
            <a:ext cx="6008741" cy="5166360"/>
          </a:xfrm>
          <a:prstGeom prst="rect">
            <a:avLst/>
          </a:prstGeom>
        </p:spPr>
      </p:pic>
      <p:pic>
        <p:nvPicPr>
          <p:cNvPr id="18" name="Picture 17" descr="A red and blue chart with numbers and a red box&#10;&#10;AI-generated content may be incorrect.">
            <a:extLst>
              <a:ext uri="{FF2B5EF4-FFF2-40B4-BE49-F238E27FC236}">
                <a16:creationId xmlns:a16="http://schemas.microsoft.com/office/drawing/2014/main" id="{48AC5336-F1F0-9AAF-B358-3EAD09678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887"/>
            <a:ext cx="6011063" cy="5166360"/>
          </a:xfrm>
          <a:prstGeom prst="rect">
            <a:avLst/>
          </a:prstGeom>
        </p:spPr>
      </p:pic>
      <p:pic>
        <p:nvPicPr>
          <p:cNvPr id="14" name="Content Placeholder 13" descr="A red and blue chart&#10;&#10;AI-generated content may be incorrect.">
            <a:extLst>
              <a:ext uri="{FF2B5EF4-FFF2-40B4-BE49-F238E27FC236}">
                <a16:creationId xmlns:a16="http://schemas.microsoft.com/office/drawing/2014/main" id="{B566AEC8-617E-74D2-D6CA-FA057E693A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" y="961525"/>
            <a:ext cx="6009900" cy="5165361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CB4A9FE8-7C65-DD7D-1815-6EB69C5FDE55}"/>
              </a:ext>
            </a:extLst>
          </p:cNvPr>
          <p:cNvSpPr txBox="1"/>
          <p:nvPr/>
        </p:nvSpPr>
        <p:spPr>
          <a:xfrm>
            <a:off x="6595110" y="1271945"/>
            <a:ext cx="5242560" cy="1477328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Each Matrix represents the true labels (rows) vs predicted labels (columns). </a:t>
            </a:r>
          </a:p>
          <a:p>
            <a:r>
              <a:rPr lang="en-US" dirty="0"/>
              <a:t>The diagonal elements indicate correct predictions, while off-diagonal elements represent misclassifications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80B4B4-506D-C7EE-AFDD-36BE138D683F}"/>
              </a:ext>
            </a:extLst>
          </p:cNvPr>
          <p:cNvSpPr txBox="1"/>
          <p:nvPr/>
        </p:nvSpPr>
        <p:spPr>
          <a:xfrm>
            <a:off x="6595110" y="3634740"/>
            <a:ext cx="5242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E.G B-LOC predicted true as 5,109, 1,146 and 930 in training, Validation and test sets respectively;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But also misclassified as B-ORG – 402, 92 and 149 in training, validation and testing sets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5FB4C6-24DF-AD8A-7EF5-C4D85BFDB446}"/>
              </a:ext>
            </a:extLst>
          </p:cNvPr>
          <p:cNvSpPr/>
          <p:nvPr/>
        </p:nvSpPr>
        <p:spPr>
          <a:xfrm>
            <a:off x="634918" y="2187846"/>
            <a:ext cx="457200" cy="50292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3E6DD7-09B7-47A7-E7CC-5A9388FB0A1C}"/>
              </a:ext>
            </a:extLst>
          </p:cNvPr>
          <p:cNvSpPr/>
          <p:nvPr/>
        </p:nvSpPr>
        <p:spPr>
          <a:xfrm>
            <a:off x="673018" y="1151526"/>
            <a:ext cx="457200" cy="50292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54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RF F1-Score comparison for Training vs Validation Vs Test sets </a:t>
            </a:r>
            <a:r>
              <a:rPr lang="en-US" sz="2400" dirty="0">
                <a:solidFill>
                  <a:schemeClr val="tx1"/>
                </a:solidFill>
              </a:rPr>
              <a:t>&amp; </a:t>
            </a:r>
            <a:r>
              <a:rPr lang="en-US" sz="2400" dirty="0"/>
              <a:t>RF Precision vs Recall for the Training, Validation and Test sets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13" name="Picture 12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D75A738-C439-B673-BB8A-B6FBF41A88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" y="972931"/>
            <a:ext cx="7967275" cy="4727448"/>
          </a:xfrm>
          <a:prstGeom prst="rect">
            <a:avLst/>
          </a:prstGeom>
        </p:spPr>
      </p:pic>
      <p:pic>
        <p:nvPicPr>
          <p:cNvPr id="15" name="Picture 14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022F646F-E541-EB49-0DD7-D15F3F18A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346" y="981172"/>
            <a:ext cx="7976385" cy="4727448"/>
          </a:xfrm>
          <a:prstGeom prst="rect">
            <a:avLst/>
          </a:prstGeom>
        </p:spPr>
      </p:pic>
      <p:pic>
        <p:nvPicPr>
          <p:cNvPr id="8" name="Content Placeholder 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46315B1-3770-B385-558F-78352F3625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76" y="964690"/>
            <a:ext cx="7971242" cy="4724400"/>
          </a:xfr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 txBox="1">
            <a:spLocks/>
          </p:cNvSpPr>
          <p:nvPr/>
        </p:nvSpPr>
        <p:spPr>
          <a:xfrm>
            <a:off x="8530389" y="1566719"/>
            <a:ext cx="3392905" cy="355635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55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100" b="1" dirty="0"/>
              <a:t>Random Forest – Precision vs Recall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00"/>
                </a:highlight>
              </a:rPr>
              <a:t>High precision but low recall on minority tags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00"/>
                </a:highlight>
              </a:rPr>
              <a:t>Tends to over-predict entities or misclassify non-entities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00"/>
                </a:highlight>
              </a:rPr>
              <a:t>Performance drops significantly for entity tags like I-PER (F1 below 20%) </a:t>
            </a:r>
          </a:p>
        </p:txBody>
      </p:sp>
    </p:spTree>
    <p:extLst>
      <p:ext uri="{BB962C8B-B14F-4D97-AF65-F5344CB8AC3E}">
        <p14:creationId xmlns:p14="http://schemas.microsoft.com/office/powerpoint/2010/main" val="3104808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EA881-6ADD-F543-CF48-29903083D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7B0DD-FFF5-15E6-F0F9-E113BEF74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CRF Classification Performance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CCCE7-37D2-A098-D465-0A57024EA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574C0C-EF75-71F1-3C8D-FD71BD328D4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42ACCA3-8387-53F5-873C-C7C771E79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1164" y="1147233"/>
            <a:ext cx="11712368" cy="49377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D47AE3-303D-DCBD-4D87-CED1D4681F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39817" y="1182070"/>
            <a:ext cx="11712366" cy="4937760"/>
          </a:xfrm>
          <a:prstGeom prst="rect">
            <a:avLst/>
          </a:prstGeom>
        </p:spPr>
      </p:pic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179205A-4D52-82F2-6ECA-7E0F125F27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00" y="1236307"/>
            <a:ext cx="11712365" cy="4937760"/>
          </a:xfr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0982C9D-87CA-42C0-ABF8-78B86AF7F92E}"/>
              </a:ext>
            </a:extLst>
          </p:cNvPr>
          <p:cNvSpPr/>
          <p:nvPr/>
        </p:nvSpPr>
        <p:spPr>
          <a:xfrm>
            <a:off x="10726338" y="893959"/>
            <a:ext cx="1303250" cy="6304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95.6%</a:t>
            </a:r>
          </a:p>
          <a:p>
            <a:pPr algn="ctr"/>
            <a:r>
              <a:rPr lang="en-US" sz="1400" b="1" dirty="0">
                <a:solidFill>
                  <a:srgbClr val="FFFF00"/>
                </a:solidFill>
              </a:rPr>
              <a:t>Test set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0BC44A9-2BB5-9911-5E47-DF646CB3E0ED}"/>
              </a:ext>
            </a:extLst>
          </p:cNvPr>
          <p:cNvSpPr/>
          <p:nvPr/>
        </p:nvSpPr>
        <p:spPr>
          <a:xfrm>
            <a:off x="99044" y="876050"/>
            <a:ext cx="1399556" cy="6304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99.9%</a:t>
            </a:r>
          </a:p>
          <a:p>
            <a:pPr algn="ctr"/>
            <a:r>
              <a:rPr lang="en-US" sz="1400" b="1" dirty="0">
                <a:solidFill>
                  <a:srgbClr val="FFFF00"/>
                </a:solidFill>
              </a:rPr>
              <a:t>Training set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72D2FE4-DF70-A906-210C-ECFA62A615EB}"/>
              </a:ext>
            </a:extLst>
          </p:cNvPr>
          <p:cNvSpPr/>
          <p:nvPr/>
        </p:nvSpPr>
        <p:spPr>
          <a:xfrm>
            <a:off x="2223541" y="965123"/>
            <a:ext cx="1722817" cy="630459"/>
          </a:xfrm>
          <a:prstGeom prst="round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97.6%</a:t>
            </a:r>
          </a:p>
          <a:p>
            <a:pPr algn="ctr"/>
            <a:r>
              <a:rPr lang="en-US" sz="1400" b="1" dirty="0">
                <a:solidFill>
                  <a:srgbClr val="FFFF00"/>
                </a:solidFill>
              </a:rPr>
              <a:t>Validation set</a:t>
            </a:r>
          </a:p>
        </p:txBody>
      </p:sp>
    </p:spTree>
    <p:extLst>
      <p:ext uri="{BB962C8B-B14F-4D97-AF65-F5344CB8AC3E}">
        <p14:creationId xmlns:p14="http://schemas.microsoft.com/office/powerpoint/2010/main" val="1834166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3EE13-FD98-92A5-AD73-09A8700DE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B5A46-487E-633E-3C02-137CA3C6B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CRF Confusion Matrices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DBC93-8776-83FF-0E39-C60F08352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38020-DD59-9E24-ACD2-F7E069BD7BB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8ECAD51-6804-9967-537F-883EE192C8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100" y="963933"/>
            <a:ext cx="6008741" cy="51289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7E1BE9E-1A47-3D74-DF6F-C569FF7269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6285" y="927562"/>
            <a:ext cx="6011063" cy="5164853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C7BA663F-542D-BC87-D08F-592071D85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100" y="886778"/>
            <a:ext cx="6009900" cy="5165361"/>
          </a:xfr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224409B6-E0AB-CA2F-7542-7F3719ED3C43}"/>
              </a:ext>
            </a:extLst>
          </p:cNvPr>
          <p:cNvSpPr txBox="1"/>
          <p:nvPr/>
        </p:nvSpPr>
        <p:spPr>
          <a:xfrm>
            <a:off x="6595110" y="1271945"/>
            <a:ext cx="5242560" cy="1477328"/>
          </a:xfrm>
          <a:prstGeom prst="rect">
            <a:avLst/>
          </a:prstGeom>
          <a:solidFill>
            <a:schemeClr val="bg2">
              <a:lumMod val="90000"/>
            </a:schemeClr>
          </a:solidFill>
          <a:ln w="571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Each Matrix represents the true labels (rows) vs predicted labels (columns). </a:t>
            </a:r>
          </a:p>
          <a:p>
            <a:r>
              <a:rPr lang="en-US" dirty="0"/>
              <a:t>The diagonal elements indicate correct predictions, while off-diagonal elements represent misclassifications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717B81-B3FA-4E99-5170-A8B3D45190BA}"/>
              </a:ext>
            </a:extLst>
          </p:cNvPr>
          <p:cNvSpPr txBox="1"/>
          <p:nvPr/>
        </p:nvSpPr>
        <p:spPr>
          <a:xfrm>
            <a:off x="6595110" y="3634740"/>
            <a:ext cx="52425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E.G O predicted true as 169,544, 42,632 and 37,905 in training, Validation and test sets respectively;</a:t>
            </a:r>
          </a:p>
          <a:p>
            <a:endParaRPr lang="en-US" dirty="0">
              <a:highlight>
                <a:srgbClr val="FFFF00"/>
              </a:highlight>
            </a:endParaRPr>
          </a:p>
          <a:p>
            <a:r>
              <a:rPr lang="en-US" dirty="0">
                <a:highlight>
                  <a:srgbClr val="FFFF00"/>
                </a:highlight>
              </a:rPr>
              <a:t>But also misclassified as I-LOC:  7, 9 and 20 in training, validation and testing 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ED02553-22D6-CA17-9C39-62CA999ECAB1}"/>
              </a:ext>
            </a:extLst>
          </p:cNvPr>
          <p:cNvSpPr/>
          <p:nvPr/>
        </p:nvSpPr>
        <p:spPr>
          <a:xfrm>
            <a:off x="1174586" y="1605553"/>
            <a:ext cx="457200" cy="50292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2A4564-45E0-CE02-0470-AAECEE038ACC}"/>
              </a:ext>
            </a:extLst>
          </p:cNvPr>
          <p:cNvSpPr/>
          <p:nvPr/>
        </p:nvSpPr>
        <p:spPr>
          <a:xfrm>
            <a:off x="1217848" y="4919616"/>
            <a:ext cx="457200" cy="50292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842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39B8D2-70FD-45C1-2E0F-4DD15E7F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1CFF8-3CC5-78E6-078A-44E3FBC61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400" dirty="0"/>
              <a:t>RF F1-Score comparison for Training vs Validation Vs Test sets </a:t>
            </a:r>
            <a:r>
              <a:rPr lang="en-US" sz="2400" dirty="0">
                <a:solidFill>
                  <a:schemeClr val="tx1"/>
                </a:solidFill>
              </a:rPr>
              <a:t>&amp; </a:t>
            </a:r>
            <a:r>
              <a:rPr lang="en-US" sz="2400" dirty="0"/>
              <a:t>RF Precision vs Recall for the Training, Validation and Test sets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D6BA8-6355-406B-CD79-6A6C65F0F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154475-20C9-734E-5C07-42332E05624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7D9EB33-E674-107C-A918-ACA8012C86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48240"/>
            <a:ext cx="7967274" cy="472744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3FDDF83-ACCF-2200-5003-146CFB073C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968827"/>
            <a:ext cx="7976385" cy="4727447"/>
          </a:xfrm>
          <a:prstGeom prst="rect">
            <a:avLst/>
          </a:prstGeo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5A4A21F-6A3E-1299-E9E0-63B60961C2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3968" y="927654"/>
            <a:ext cx="7971242" cy="4724400"/>
          </a:xfr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144DCEC6-148F-14CC-A6B9-9795FFCEBED4}"/>
              </a:ext>
            </a:extLst>
          </p:cNvPr>
          <p:cNvSpPr txBox="1">
            <a:spLocks/>
          </p:cNvSpPr>
          <p:nvPr/>
        </p:nvSpPr>
        <p:spPr>
          <a:xfrm>
            <a:off x="8530389" y="1566719"/>
            <a:ext cx="3392905" cy="3556354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lIns="91440" tIns="45720" rIns="91440" bIns="45720" rtlCol="0">
            <a:normAutofit fontScale="700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5100" b="1" dirty="0"/>
              <a:t>Random Forest – Precision vs Recall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00"/>
                </a:highlight>
              </a:rPr>
              <a:t>High precision on all entity classes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>
                <a:highlight>
                  <a:srgbClr val="FFFF00"/>
                </a:highlight>
              </a:rPr>
              <a:t>Performance drops insignificantly</a:t>
            </a:r>
          </a:p>
        </p:txBody>
      </p:sp>
    </p:spTree>
    <p:extLst>
      <p:ext uri="{BB962C8B-B14F-4D97-AF65-F5344CB8AC3E}">
        <p14:creationId xmlns:p14="http://schemas.microsoft.com/office/powerpoint/2010/main" val="544346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CRF vs Random Forest- Final take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7CA10A4E-1280-40D7-AC12-244A348CD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Summary of model comparison</a:t>
            </a:r>
          </a:p>
          <a:p>
            <a:endParaRPr lang="en-IN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533D4285-22AF-4059-B26D-1A7924D4D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813780"/>
              </p:ext>
            </p:extLst>
          </p:nvPr>
        </p:nvGraphicFramePr>
        <p:xfrm>
          <a:off x="888520" y="1863307"/>
          <a:ext cx="8807568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5856">
                  <a:extLst>
                    <a:ext uri="{9D8B030D-6E8A-4147-A177-3AD203B41FA5}">
                      <a16:colId xmlns:a16="http://schemas.microsoft.com/office/drawing/2014/main" val="791863361"/>
                    </a:ext>
                  </a:extLst>
                </a:gridCol>
                <a:gridCol w="2935856">
                  <a:extLst>
                    <a:ext uri="{9D8B030D-6E8A-4147-A177-3AD203B41FA5}">
                      <a16:colId xmlns:a16="http://schemas.microsoft.com/office/drawing/2014/main" val="2503259663"/>
                    </a:ext>
                  </a:extLst>
                </a:gridCol>
                <a:gridCol w="2935856">
                  <a:extLst>
                    <a:ext uri="{9D8B030D-6E8A-4147-A177-3AD203B41FA5}">
                      <a16:colId xmlns:a16="http://schemas.microsoft.com/office/drawing/2014/main" val="1193809111"/>
                    </a:ext>
                  </a:extLst>
                </a:gridCol>
              </a:tblGrid>
              <a:tr h="302586">
                <a:tc>
                  <a:txBody>
                    <a:bodyPr/>
                    <a:lstStyle/>
                    <a:p>
                      <a:r>
                        <a:rPr lang="en-IN" dirty="0"/>
                        <a:t>Metric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CRF (Test Set)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Random Forest (Test Set)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851032"/>
                  </a:ext>
                </a:extLst>
              </a:tr>
              <a:tr h="302586">
                <a:tc>
                  <a:txBody>
                    <a:bodyPr/>
                    <a:lstStyle/>
                    <a:p>
                      <a:r>
                        <a:rPr lang="en-IN" dirty="0"/>
                        <a:t>Accuracy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59.5%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8137362"/>
                  </a:ext>
                </a:extLst>
              </a:tr>
              <a:tr h="302586">
                <a:tc>
                  <a:txBody>
                    <a:bodyPr/>
                    <a:lstStyle/>
                    <a:p>
                      <a:r>
                        <a:rPr lang="en-IN" dirty="0"/>
                        <a:t>Micro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80.6%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40.4%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018026"/>
                  </a:ext>
                </a:extLst>
              </a:tr>
              <a:tr h="302586">
                <a:tc>
                  <a:txBody>
                    <a:bodyPr/>
                    <a:lstStyle/>
                    <a:p>
                      <a:r>
                        <a:rPr lang="en-IN" dirty="0"/>
                        <a:t>Weighted F1-Score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93.2%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67.7%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073053"/>
                  </a:ext>
                </a:extLst>
              </a:tr>
              <a:tr h="455546">
                <a:tc>
                  <a:txBody>
                    <a:bodyPr/>
                    <a:lstStyle/>
                    <a:p>
                      <a:r>
                        <a:rPr lang="en-IN" dirty="0"/>
                        <a:t>Strengths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Context-aware, strong generalization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Simple, fast, interpretable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255372"/>
                  </a:ext>
                </a:extLst>
              </a:tr>
              <a:tr h="302586">
                <a:tc>
                  <a:txBody>
                    <a:bodyPr/>
                    <a:lstStyle/>
                    <a:p>
                      <a:r>
                        <a:rPr lang="en-IN" dirty="0"/>
                        <a:t>Weaknesses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Can overfit if not tune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Ignores word sequences/context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2068892"/>
                  </a:ext>
                </a:extLst>
              </a:tr>
              <a:tr h="455546">
                <a:tc>
                  <a:txBody>
                    <a:bodyPr/>
                    <a:lstStyle/>
                    <a:p>
                      <a:r>
                        <a:rPr lang="en-IN" dirty="0"/>
                        <a:t>Best 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Tasks needing sequence understanding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Quick baseline or feature-based 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3963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128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Discussion &amp;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Comparative performance recap</a:t>
            </a:r>
          </a:p>
          <a:p>
            <a:r>
              <a:rPr lang="en-US" b="1" dirty="0"/>
              <a:t>Why did CRF outperform RF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C2FABCB3-6B7D-4FD8-A949-87EF655271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8714127"/>
              </p:ext>
            </p:extLst>
          </p:nvPr>
        </p:nvGraphicFramePr>
        <p:xfrm>
          <a:off x="3888509" y="2299854"/>
          <a:ext cx="7555346" cy="3592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7673">
                  <a:extLst>
                    <a:ext uri="{9D8B030D-6E8A-4147-A177-3AD203B41FA5}">
                      <a16:colId xmlns:a16="http://schemas.microsoft.com/office/drawing/2014/main" val="2100205656"/>
                    </a:ext>
                  </a:extLst>
                </a:gridCol>
                <a:gridCol w="3777673">
                  <a:extLst>
                    <a:ext uri="{9D8B030D-6E8A-4147-A177-3AD203B41FA5}">
                      <a16:colId xmlns:a16="http://schemas.microsoft.com/office/drawing/2014/main" val="111707284"/>
                    </a:ext>
                  </a:extLst>
                </a:gridCol>
              </a:tblGrid>
              <a:tr h="1197648">
                <a:tc>
                  <a:txBody>
                    <a:bodyPr/>
                    <a:lstStyle/>
                    <a:p>
                      <a:r>
                        <a:rPr lang="en-IN" dirty="0"/>
                        <a:t>CRF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5393007"/>
                  </a:ext>
                </a:extLst>
              </a:tr>
              <a:tr h="1197648">
                <a:tc>
                  <a:txBody>
                    <a:bodyPr/>
                    <a:lstStyle/>
                    <a:p>
                      <a:r>
                        <a:rPr lang="en-US" dirty="0"/>
                        <a:t>Captures sequence: it understands word relationships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Handles features well but lacks context awareness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6804698"/>
                  </a:ext>
                </a:extLst>
              </a:tr>
              <a:tr h="1197648">
                <a:tc>
                  <a:txBody>
                    <a:bodyPr/>
                    <a:lstStyle/>
                    <a:p>
                      <a:r>
                        <a:rPr lang="en-US" dirty="0"/>
                        <a:t>Better precision, recall, and F1 across all entity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Good only on high-frequency classes (like ‘O’)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0394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4559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 of the study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Only tested on English using the CoNLL-2003 Dataset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RF was used in its basic form (no embeddings or sequence modelling)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CRF may overfit slightly without regularization tuning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Results may vary across languages or domains (e.g., medical, legal)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5402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Recommendation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Improving NER performance further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CRF: add embeddings (like word2vec or BERT), use regularization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For RF: consider hybrid models (e.g., CRF + RF or RF + LSTM)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Explore other datasets and low-resource languages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Experiment with domain adaption for specific fields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4380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CA860-D111-DB30-9A3C-1A6A7CBAA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06CE0-B87A-9590-C4BE-20B8D634F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Takeaways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CRF is more effective than RF for named entity recognition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Handles sequence data, maintains high generalization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RF has interpretability but lacks sequence handling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The study helps guide model selection in NER applications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C8927-86F7-9F8B-8645-E9524256C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57858-EB7D-4089-9C45-652DD97D1C78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6426BD-F3A5-0A2C-52F8-78DF1C1BCC8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2025 © Dr. Manzu Gerald Virtual Research Lab | University of Juba, SCSIT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0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5A19C-B760-9B80-E175-017004A29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EF6981-24C9-ADBB-0FE5-0FD8A3E3C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9FE8-996C-442E-ABFE-50DC6425ECCA}" type="datetime1">
              <a:rPr lang="ja-JP" altLang="en-US" smtClean="0"/>
              <a:t>2025/5/7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DE4847-A81E-8C5F-A397-AEAD938AE34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98143" y="3980954"/>
            <a:ext cx="6713957" cy="914400"/>
          </a:xfrm>
        </p:spPr>
        <p:txBody>
          <a:bodyPr/>
          <a:lstStyle/>
          <a:p>
            <a:r>
              <a:rPr lang="en-US" dirty="0"/>
              <a:t>Anthony Bush Castro, 20-CCS-281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E847D5-73CD-4B5E-0EDC-F782B27CD65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dirty="0"/>
              <a:t>2025 © Dr. </a:t>
            </a:r>
            <a:r>
              <a:rPr lang="en-US" dirty="0" err="1"/>
              <a:t>Manzu</a:t>
            </a:r>
            <a:r>
              <a:rPr lang="en-US" dirty="0"/>
              <a:t> Gerald Virtual Research Lab | University of Juba, SCSIT</a:t>
            </a:r>
          </a:p>
        </p:txBody>
      </p:sp>
    </p:spTree>
    <p:extLst>
      <p:ext uri="{BB962C8B-B14F-4D97-AF65-F5344CB8AC3E}">
        <p14:creationId xmlns:p14="http://schemas.microsoft.com/office/powerpoint/2010/main" val="729712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5882</TotalTime>
  <Words>1477</Words>
  <Application>Microsoft Office PowerPoint</Application>
  <PresentationFormat>Widescreen</PresentationFormat>
  <Paragraphs>198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Microsoft YaHei</vt:lpstr>
      <vt:lpstr>Aptos</vt:lpstr>
      <vt:lpstr>Aptos Display</vt:lpstr>
      <vt:lpstr>Arial</vt:lpstr>
      <vt:lpstr>Montserrat</vt:lpstr>
      <vt:lpstr>Roboto</vt:lpstr>
      <vt:lpstr>Times New Roman</vt:lpstr>
      <vt:lpstr>Office Theme</vt:lpstr>
      <vt:lpstr>Performance Comparison of Random Forest and Conditional Random Fields Models for Named Entity Recognition using the CoNLL-2003 Dataset</vt:lpstr>
      <vt:lpstr>Problem Statement</vt:lpstr>
      <vt:lpstr>Objectives and significance of the study</vt:lpstr>
      <vt:lpstr>Evolution of NER Approaches &amp; Key Models(Literature Review)</vt:lpstr>
      <vt:lpstr>Research Gaps &amp; Novelty</vt:lpstr>
      <vt:lpstr> Implementation Flowchart (methodology)</vt:lpstr>
      <vt:lpstr>Models and Data</vt:lpstr>
      <vt:lpstr>CRF Model</vt:lpstr>
      <vt:lpstr>Random Forest Model</vt:lpstr>
      <vt:lpstr>Measuring models performance</vt:lpstr>
      <vt:lpstr>Tag distribution - Training </vt:lpstr>
      <vt:lpstr>Random Forest Classification Performance</vt:lpstr>
      <vt:lpstr>RF Confusion Matrices</vt:lpstr>
      <vt:lpstr>RF F1-Score comparison for Training vs Validation Vs Test sets &amp; RF Precision vs Recall for the Training, Validation and Test sets</vt:lpstr>
      <vt:lpstr>CRF Classification Performance</vt:lpstr>
      <vt:lpstr>CRF Confusion Matrices</vt:lpstr>
      <vt:lpstr>RF F1-Score comparison for Training vs Validation Vs Test sets &amp; RF Precision vs Recall for the Training, Validation and Test sets</vt:lpstr>
      <vt:lpstr>CRF vs Random Forest- Final take</vt:lpstr>
      <vt:lpstr>Discussion &amp; Conclusion</vt:lpstr>
      <vt:lpstr>Limitations of the study</vt:lpstr>
      <vt:lpstr>Recommendation &amp; future work</vt:lpstr>
      <vt:lpstr>Final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Research Title</dc:title>
  <dc:creator>MANZU GERALD</dc:creator>
  <cp:lastModifiedBy>MANZU GERALD</cp:lastModifiedBy>
  <cp:revision>111</cp:revision>
  <dcterms:created xsi:type="dcterms:W3CDTF">2025-04-28T08:10:34Z</dcterms:created>
  <dcterms:modified xsi:type="dcterms:W3CDTF">2025-05-07T05:26:30Z</dcterms:modified>
</cp:coreProperties>
</file>